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9" r:id="rId20"/>
    <p:sldId id="270" r:id="rId21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2B4A"/>
                </a:solidFill>
              </a:defRPr>
            </a:pPr>
            <a:r>
              <a:t>AahaarTwin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77B4"/>
                </a:solidFill>
              </a:defRPr>
            </a:pPr>
            <a:r>
              <a:t>A Personalized Meal-Response Digital Twin</a:t>
            </a:r>
            <a:br/>
            <a:r>
              <a:t>Happiest Health Digital Twin Challenge 2026 — Sujal Giri, B.Tech CSE (2nd year)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Static + dynamic fusion → adverse glycemic-event prediction → conceptual doctor dashboard</a:t>
            </a:r>
          </a:p>
          <a:p>
            <a:pPr>
              <a:spcAft>
                <a:spcPts val="800"/>
              </a:spcAft>
              <a:defRPr sz="1600"/>
            </a:pPr>
            <a:r>
              <a:t>5 LightGBM boosters · conformalized uncertainty · per-patient twin state · meal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8888"/>
                </a:solidFill>
              </a:defRPr>
            </a:pPr>
            <a:r>
              <a:t>Research prototype — not a medical device; not for diagnosis or treatment.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B4A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Generic glycemic-index charts treat every body the same.</a:t>
            </a:r>
          </a:p>
          <a:p>
            <a:pPr>
              <a:spcAft>
                <a:spcPts val="1000"/>
              </a:spcAft>
              <a:defRPr sz="1500"/>
            </a:pPr>
            <a:r>
              <a:t>But the SAME meal spikes glucose in one person and not another — response depends on the individual's physiology, pre-meal state, and context.</a:t>
            </a:r>
          </a:p>
          <a:p>
            <a:pPr>
              <a:spcAft>
                <a:spcPts val="1000"/>
              </a:spcAft>
              <a:defRPr sz="1500"/>
            </a:pPr>
            <a:r>
              <a:t>Clinicians and patients need a prospective, personal answer: what will happen to MY glucose if I eat THIS meal RIGHT NOW?</a:t>
            </a:r>
          </a:p>
          <a:p>
            <a:pPr>
              <a:spcAft>
                <a:spcPts val="1000"/>
              </a:spcAft>
              <a:defRPr sz="1500"/>
            </a:pPr>
            <a:r>
              <a:t>And that answer must carry honest uncertainty — a point prediction without a calibrated interval is a guess wearing a lab coat.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8888"/>
                </a:solidFill>
              </a:defRPr>
            </a:pPr>
            <a:r>
              <a:t>Research prototype — not a medical device; not for diagnosis or treatment.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B4A"/>
                </a:solidFill>
              </a:defRPr>
            </a:pPr>
            <a:r>
              <a:t>The solution: a meal-response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A per-patient twin that fuses STATIC data (HbA1c, fasting glucose/insulin, lipids, BMI, age) with DYNAMIC streams (CGM, heart rate, activity, time of day).</a:t>
            </a:r>
          </a:p>
          <a:p>
            <a:pPr>
              <a:spcAft>
                <a:spcPts val="1000"/>
              </a:spcAft>
              <a:defRPr sz="1500"/>
            </a:pPr>
            <a:r>
              <a:t>Predicts for any candidate meal: 2-hour glucose load (iAUC), 2-hour peak, and the ADVERSE EVENT — glucose excursion (peak ≥ 180 mg/dL) — with conformalized 90% intervals and calibrated probabilities.</a:t>
            </a:r>
          </a:p>
          <a:p>
            <a:pPr>
              <a:spcAft>
                <a:spcPts val="1000"/>
              </a:spcAft>
              <a:defRPr sz="1500"/>
            </a:pPr>
            <a:r>
              <a:t>Ranks candidate meals best-to-worst for THIS patient at THIS pre-meal moment.</a:t>
            </a:r>
          </a:p>
          <a:p>
            <a:pPr>
              <a:spcAft>
                <a:spcPts val="1000"/>
              </a:spcAft>
              <a:defRPr sz="1500"/>
            </a:pPr>
            <a:r>
              <a:t>Keeps learning: every prediction is paired with its later observed outcome; drift flags fire when errors shift systematically.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8888"/>
                </a:solidFill>
              </a:defRPr>
            </a:pPr>
            <a:r>
              <a:t>Research prototype — not a medical device; not for diagnosis or treatment.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B4A"/>
                </a:solidFill>
              </a:defRPr>
            </a:pPr>
            <a:r>
              <a:t>Twin 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0"/>
            <a:ext cx="996696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594360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/>
            </a:pPr>
            <a:r>
              <a:t>Pipeline: data → preprocess → features → evaluation harness → models → uncertainty → twin state → ranking → dashboard. Dashed red: evaluation feedback loops.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8888"/>
                </a:solidFill>
              </a:defRPr>
            </a:pPr>
            <a:r>
              <a:t>Research prototype — not a medical device; not for diagnosis or treatment.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B4A"/>
                </a:solidFill>
              </a:defRPr>
            </a:pPr>
            <a:r>
              <a:t>Data +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CGMacros v1.0.0 (Gutierrez-Osuna et al., PhysioNet), DOI 10.13026/3z8q-x658. Raw data NOT redistributed (license terms unverified).</a:t>
            </a:r>
          </a:p>
          <a:p>
            <a:pPr>
              <a:spcAft>
                <a:spcPts val="1000"/>
              </a:spcAft>
              <a:defRPr sz="1500"/>
            </a:pPr>
            <a:r>
              <a:t>1,706 raw meal events → 1,613 post-dedup → 1,579 usable (valid 2-h CGM window) across 45 patients (17–52 meals/patient). Excursion rate 39.5%.</a:t>
            </a:r>
          </a:p>
          <a:p>
            <a:pPr>
              <a:spcAft>
                <a:spcPts val="1000"/>
              </a:spcAft>
              <a:defRPr sz="1500"/>
            </a:pPr>
            <a:r>
              <a:t>25 features: 5 meal macros · 4 pre-meal dynamic (g0, 60-min slope, mean HR 2h, activity kcal 2h) · cyclical time-of-day · meal type · 8 static biometrics.</a:t>
            </a:r>
          </a:p>
          <a:p>
            <a:pPr>
              <a:spcAft>
                <a:spcPts val="1000"/>
              </a:spcAft>
              <a:defRPr sz="1500"/>
            </a:pPr>
            <a:r>
              <a:t>Evaluation: 5-fold patient-level GroupKFold — a patient is NEVER in train and eval at once. All metrics out-of-fold; 95% CIs by patient-level bootstrap (2,000 resamples). Hyperparameters fixed a priori (seed 42).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8888"/>
                </a:solidFill>
              </a:defRPr>
            </a:pPr>
            <a:r>
              <a:t>Research prototype — not a medical device; not for diagnosis or treatment.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B4A"/>
                </a:solidFill>
              </a:defRPr>
            </a:pPr>
            <a:r>
              <a:t>Measured results —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iAUC MAE 32.39 (95% CI 29.09–35.73) vs patient-mean 39.09, carb-only 34.21, population-linear 38.22.</a:t>
            </a:r>
          </a:p>
          <a:p>
            <a:pPr>
              <a:spcAft>
                <a:spcPts val="1000"/>
              </a:spcAft>
              <a:defRPr sz="1500"/>
            </a:pPr>
            <a:r>
              <a:t>Peak MAE 27.10 (95% CI 24.67–29.46) vs patient-mean 40.37.</a:t>
            </a:r>
          </a:p>
          <a:p>
            <a:pPr>
              <a:spcAft>
                <a:spcPts val="1000"/>
              </a:spcAft>
              <a:defRPr sz="1500"/>
            </a:pPr>
            <a:r>
              <a:t>Honest note: the gap is narrower against the time-ordered patient-mean baseline (34.04) — reported, not hidden.</a:t>
            </a:r>
          </a:p>
          <a:p>
            <a:pPr>
              <a:spcAft>
                <a:spcPts val="1000"/>
              </a:spcAft>
              <a:defRPr sz="1500"/>
            </a:pPr>
            <a:r>
              <a:t>Excursion classifier: PR-AUC 0.798 (CI 0.73–0.84), ROC-AUC 0.837 (CI 0.80–0.87); at OOF max-F1 threshold 0.347: P 0.707 / R 0.745 / F1 0.726.</a:t>
            </a:r>
          </a:p>
        </p:txBody>
      </p:sp>
      <p:pic>
        <p:nvPicPr>
          <p:cNvPr id="5" name="Picture 4" descr="p6_mae_bas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0"/>
            <a:ext cx="56692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585216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iAUC MAE: model vs honest baselines (all artifact-grounded).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8888"/>
                </a:solidFill>
              </a:defRPr>
            </a:pPr>
            <a:r>
              <a:t>Research prototype — not a medical device; not for diagnosis or treatment.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B4A"/>
                </a:solidFill>
              </a:defRPr>
            </a:pPr>
            <a:r>
              <a:t>Measured results — calibration &amp;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Excursion probabilities are isotonic-calibrated: ECE 0.122 raw → ~0.0.</a:t>
            </a:r>
          </a:p>
          <a:p>
            <a:pPr>
              <a:spcAft>
                <a:spcPts val="1000"/>
              </a:spcAft>
              <a:defRPr sz="1500"/>
            </a:pPr>
            <a:r>
              <a:t>The calibration curve (right) shows predicted probability tracking observed excursion rate across all 10 bins — the app's risk badges rest on this.</a:t>
            </a:r>
          </a:p>
          <a:p>
            <a:pPr>
              <a:spcAft>
                <a:spcPts val="1000"/>
              </a:spcAft>
              <a:defRPr sz="1500"/>
            </a:pPr>
            <a:r>
              <a:t>31/31 tests pass; the Streamlit app smoke-tests at HTTP 200; every dashboard metric loads from models/*.json at startup.</a:t>
            </a:r>
          </a:p>
        </p:txBody>
      </p:sp>
      <p:pic>
        <p:nvPicPr>
          <p:cNvPr id="5" name="Picture 4" descr="p2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0"/>
            <a:ext cx="56692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585216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OOF calibration curve: raw vs isotonic-calibrated excursion probabilities.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8888"/>
                </a:solidFill>
              </a:defRPr>
            </a:pPr>
            <a:r>
              <a:t>Research prototype — not a medical device; not for diagnosis or treatment.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B4A"/>
                </a:solidFill>
              </a:defRPr>
            </a:pPr>
            <a:r>
              <a:t>Measured results — uncertainty 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Raw quantile intervals (nominal 90%) covered only 60.5% of OOF outcomes — serious undercoverage we reported, not hid.</a:t>
            </a:r>
          </a:p>
          <a:p>
            <a:pPr>
              <a:spcAft>
                <a:spcPts val="1000"/>
              </a:spcAft>
              <a:defRPr sz="1500"/>
            </a:pPr>
            <a:r>
              <a:t>Fix: conformalized quantile regression (adjustment +24.04) → OOF coverage 0.901 at mean width 119.2.</a:t>
            </a:r>
          </a:p>
          <a:p>
            <a:pPr>
              <a:spcAft>
                <a:spcPts val="1000"/>
              </a:spcAft>
              <a:defRPr sz="1500"/>
            </a:pPr>
            <a:r>
              <a:t>App clips the displayed interval lower bound at 0 (glucose can't be negative); the stored interval stays symmetric/additive — documented in-app.</a:t>
            </a:r>
          </a:p>
        </p:txBody>
      </p:sp>
      <p:pic>
        <p:nvPicPr>
          <p:cNvPr id="5" name="Picture 4" descr="p7_inter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0"/>
            <a:ext cx="56692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585216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Coverage: raw 0.605 → conformalized 0.901. Width is the honest price.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8888"/>
                </a:solidFill>
              </a:defRPr>
            </a:pPr>
            <a:r>
              <a:t>Research prototype — not a medical device; not for diagnosis or treatment.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B4A"/>
                </a:solidFill>
              </a:defRPr>
            </a:pPr>
            <a:r>
              <a:t>Measured results — personalization &amp;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E1 personalization (pre-registered rule: win rate &gt; 0.5 AND bootstrap CI excludes 0): win rate 0.60, mean ΔMAE −3.68, CI [−6.96, −0.47] → SUPPORTED. Caveat: fine-tuning is evaluated, not yet in the live path.</a:t>
            </a:r>
          </a:p>
          <a:p>
            <a:pPr>
              <a:spcAft>
                <a:spcPts val="1000"/>
              </a:spcAft>
              <a:defRPr sz="1500"/>
            </a:pPr>
            <a:r>
              <a:t>E2 ranking: model Spearman 0.546 vs carb-only 0.274; model beats carb-only in 82.2% of patients — personalized ranking adds real value beyond carb counting.</a:t>
            </a:r>
          </a:p>
        </p:txBody>
      </p:sp>
      <p:pic>
        <p:nvPicPr>
          <p:cNvPr id="5" name="Picture 4" descr="p5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0"/>
            <a:ext cx="56692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585216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E2: per-patient Spearman of predicted vs observed meal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8888"/>
                </a:solidFill>
              </a:defRPr>
            </a:pPr>
            <a:r>
              <a:t>Research prototype — not a medical device; not for diagnosis or treatment.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B4A"/>
                </a:solidFill>
              </a:defRPr>
            </a:pPr>
            <a:r>
              <a:t>What drives the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Top LightGBM gain features (iAUC model): time-of-day (hour_sin), fasting glucose, pre-meal glucose g0, carbs, HbA1c — dynamic context and static physiology both matter, not just the meal.</a:t>
            </a:r>
          </a:p>
          <a:p>
            <a:pPr>
              <a:spcAft>
                <a:spcPts val="1000"/>
              </a:spcAft>
              <a:defRPr sz="1500"/>
            </a:pPr>
            <a:r>
              <a:t>Feature importance is ASSOCIATIONAL, not causal — the Safety page says this in plain language.</a:t>
            </a:r>
          </a:p>
          <a:p>
            <a:pPr>
              <a:spcAft>
                <a:spcPts val="1000"/>
              </a:spcAft>
              <a:defRPr sz="1500"/>
            </a:pPr>
            <a:r>
              <a:t>Monotone +1 constraint on carbs keeps meal-swap direction sane.</a:t>
            </a:r>
          </a:p>
        </p:txBody>
      </p:sp>
      <p:pic>
        <p:nvPicPr>
          <p:cNvPr id="5" name="Picture 4" descr="p3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0"/>
            <a:ext cx="56692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585216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Top-12 features by split gain (associational).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8888"/>
                </a:solidFill>
              </a:defRPr>
            </a:pPr>
            <a:r>
              <a:t>Research prototype — not a medical device; not for diagnosis or treatment.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B4A"/>
                </a:solidFill>
              </a:defRPr>
            </a:pPr>
            <a:r>
              <a:t>The twin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twin_state.db (SQLite) is seeded by honestly replaying each patient's meals: predict FIRST using only prior-meal state, then record the observation.</a:t>
            </a:r>
          </a:p>
          <a:p>
            <a:pPr>
              <a:spcAft>
                <a:spcPts val="1000"/>
              </a:spcAft>
              <a:defRPr sz="1500"/>
            </a:pPr>
            <a:r>
              <a:t>Per-patient profile: running residual statistics, drift bound = 1.5 × OOF iAUC MAE = 48.58. A rolling mean |residual| above the bound over 5 meals → drift flag for clinician review.</a:t>
            </a:r>
          </a:p>
          <a:p>
            <a:pPr>
              <a:spcAft>
                <a:spcPts val="1000"/>
              </a:spcAft>
              <a:defRPr sz="1500"/>
            </a:pPr>
            <a:r>
              <a:t>Twin history page: every prediction paired with its later observed outcome — predicted-vs-observed is a first-class view, not a footnote.</a:t>
            </a:r>
          </a:p>
          <a:p>
            <a:pPr>
              <a:spcAft>
                <a:spcPts val="1000"/>
              </a:spcAft>
              <a:defRPr sz="1500"/>
            </a:pPr>
            <a:r>
              <a:t>Missing DB at startup? The app auto-seeds from data/processed/meals.csv.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8888"/>
                </a:solidFill>
              </a:defRPr>
            </a:pPr>
            <a:r>
              <a:t>Research prototype — not a medical device; not for diagnosis or treatment.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B4A"/>
                </a:solidFill>
              </a:defRPr>
            </a:pPr>
            <a:r>
              <a:t>Differentiators —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Patient-level evaluation discipline: every number is out-of-fold with patient-level bootstrap CIs — no leakage, no test-tuning.</a:t>
            </a:r>
          </a:p>
          <a:p>
            <a:pPr>
              <a:spcAft>
                <a:spcPts val="1000"/>
              </a:spcAft>
              <a:defRPr sz="1500"/>
            </a:pPr>
            <a:r>
              <a:t>Uncertainty we fixed instead of hiding: 60.5% → 90.1% coverage via conformalization, reported with the width cost.</a:t>
            </a:r>
          </a:p>
          <a:p>
            <a:pPr>
              <a:spcAft>
                <a:spcPts val="1000"/>
              </a:spcAft>
              <a:defRPr sz="1500"/>
            </a:pPr>
            <a:r>
              <a:t>Pre-registered E1 decision rule with an honest verdict (SUPPORTED) and an honest caveat (not in the live path).</a:t>
            </a:r>
          </a:p>
          <a:p>
            <a:pPr>
              <a:spcAft>
                <a:spcPts val="1000"/>
              </a:spcAft>
              <a:defRPr sz="1500"/>
            </a:pPr>
            <a:r>
              <a:t>E2 proves the product thesis: personalized ranking beats carb-only ordering in 82.2% of patients.</a:t>
            </a:r>
          </a:p>
          <a:p>
            <a:pPr>
              <a:spcAft>
                <a:spcPts val="1000"/>
              </a:spcAft>
              <a:defRPr sz="1500"/>
            </a:pPr>
            <a:r>
              <a:t>Honesty engineering: artifacts-or-crash startup, input validation, disclaimers on every page, no invented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8888"/>
                </a:solidFill>
              </a:defRPr>
            </a:pPr>
            <a:r>
              <a:t>Research prototype — not a medical device; not for diagnosis or treatment.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B4A"/>
                </a:solidFill>
              </a:defRPr>
            </a:pPr>
            <a:r>
              <a:t>Limitations, future work,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LIMITS: no clinical validation · 45 patients, one dataset — no India-generalization claim · peak MAE 27 mg/dL, interval width ~119 (directional, not precise) · E1 not in live path.</a:t>
            </a:r>
          </a:p>
          <a:p>
            <a:pPr>
              <a:spcAft>
                <a:spcPts val="1000"/>
              </a:spcAft>
              <a:defRPr sz="1500"/>
            </a:pPr>
            <a:r>
              <a:t>NEXT: ship personal fine-tuning behind a data-sufficiency gate · nutrition-goal constraints in ranking · prospective shadow evaluation · multi-site validation.</a:t>
            </a:r>
          </a:p>
          <a:p>
            <a:pPr>
              <a:spcAft>
                <a:spcPts val="1000"/>
              </a:spcAft>
              <a:defRPr sz="1500"/>
            </a:pPr>
            <a:r>
              <a:t>CHECKLIST: ✓ public GitHub repo (push pending user action) ✓ README 12 items ✓ architecture PDF+PPTX ✓ this presentation ✓ static+dynamic fusion → adverse-event prediction ✓ doctor dashboard ✓ MIT license, data cited not redistributed … ☐ 20-min video (to record) ☐ team name/college (to confirm).</a:t>
            </a:r>
          </a:p>
          <a:p>
            <a:pPr>
              <a:spcAft>
                <a:spcPts val="1000"/>
              </a:spcAft>
              <a:defRPr sz="1500"/>
            </a:pPr>
            <a:r>
              <a:t>Registration closes 18 Oct 2026 7PM IST · submission closes 20 Oct 2026 7PM 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8888"/>
                </a:solidFill>
              </a:defRPr>
            </a:pPr>
            <a:r>
              <a:t>Research prototype — not a medical device; not for diagnosis or treatment.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4" b="1"/>
              <a:t>Live dashboard — Overview &amp; Evaluation</a:t>
            </a:r>
          </a:p>
        </p:txBody>
      </p:sp>
      <p:pic>
        <p:nvPicPr>
          <p:cNvPr id="3" name="Picture 2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5500116" cy="3819525"/>
          </a:xfrm>
          <a:prstGeom prst="rect">
            <a:avLst/>
          </a:prstGeom>
        </p:spPr>
      </p:pic>
      <p:pic>
        <p:nvPicPr>
          <p:cNvPr id="4" name="Picture 3" descr="eval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868680"/>
            <a:ext cx="5500116" cy="3819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8" i="1"/>
              <a:t>Screenshots captured 2026-10-14 from the running Streamlit app — real pages, real artifact-loaded metrics. No mockups.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4" b="1"/>
              <a:t>Live dashboard — Patient, Prediction, Comparison, History</a:t>
            </a:r>
          </a:p>
        </p:txBody>
      </p:sp>
      <p:pic>
        <p:nvPicPr>
          <p:cNvPr id="3" name="Picture 2" descr="patient_explo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2612898" cy="1814512"/>
          </a:xfrm>
          <a:prstGeom prst="rect">
            <a:avLst/>
          </a:prstGeom>
        </p:spPr>
      </p:pic>
      <p:pic>
        <p:nvPicPr>
          <p:cNvPr id="4" name="Picture 3" descr="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418" y="868680"/>
            <a:ext cx="2612898" cy="1814512"/>
          </a:xfrm>
          <a:prstGeom prst="rect">
            <a:avLst/>
          </a:prstGeom>
        </p:spPr>
      </p:pic>
      <p:pic>
        <p:nvPicPr>
          <p:cNvPr id="5" name="Picture 4" descr="mea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636" y="868680"/>
            <a:ext cx="2612898" cy="1814512"/>
          </a:xfrm>
          <a:prstGeom prst="rect">
            <a:avLst/>
          </a:prstGeom>
        </p:spPr>
      </p:pic>
      <p:pic>
        <p:nvPicPr>
          <p:cNvPr id="6" name="Picture 5" descr="twin_his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8854" y="868680"/>
            <a:ext cx="2612898" cy="1814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8" i="1"/>
              <a:t>Screenshots captured 2026-10-14 from the running Streamlit app — real pages, real artifact-loaded metrics. No mockups.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